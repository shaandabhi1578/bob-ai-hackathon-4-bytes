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55b2cf13a304506" /><Relationship Type="http://schemas.openxmlformats.org/package/2006/relationships/metadata/core-properties" Target="/docProps/core.xml" Id="Rfbe2083321664e34" /><Relationship Type="http://schemas.openxmlformats.org/officeDocument/2006/relationships/extended-properties" Target="/docProps/app.xml" Id="Re10ac5e0450f4d74" /><Relationship Type="http://schemas.openxmlformats.org/officeDocument/2006/relationships/custom-properties" Target="/docProps/custom.xml" Id="R46391a6f69da472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3b5268cd6834d18"/>
  </p:notesMasterIdLst>
  <p:sldIdLst>
    <p:sldId id="256" r:id="R155920c7c5a44549"/>
    <p:sldId id="257" r:id="R2ec348d73d324bd5"/>
    <p:sldId id="258" r:id="Re93df2b535cb4a38"/>
    <p:sldId id="259" r:id="Rd30ccc5182ec4f48"/>
    <p:sldId id="260" r:id="R7f3452490e0e47ed"/>
    <p:sldId id="261" r:id="R01e0bc71b0f14244"/>
    <p:sldId id="262" r:id="R3e1c569bbef24791"/>
    <p:sldId id="263" r:id="R010a7a8a41744a84"/>
    <p:sldId id="264" r:id="R4009891bffa94ee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55920c7c5a44549" /><Relationship Type="http://schemas.openxmlformats.org/officeDocument/2006/relationships/notesMaster" Target="/ppt/notesMasters/notesMaster1.xml" Id="R03b5268cd6834d18" /><Relationship Type="http://schemas.openxmlformats.org/officeDocument/2006/relationships/slide" Target="/ppt/slides/slide2.xml" Id="R2ec348d73d324bd5" /><Relationship Type="http://schemas.openxmlformats.org/officeDocument/2006/relationships/slide" Target="/ppt/slides/slide3.xml" Id="Re93df2b535cb4a38" /><Relationship Type="http://schemas.openxmlformats.org/officeDocument/2006/relationships/slide" Target="/ppt/slides/slide4.xml" Id="Rd30ccc5182ec4f48" /><Relationship Type="http://schemas.openxmlformats.org/officeDocument/2006/relationships/slide" Target="/ppt/slides/slide5.xml" Id="R7f3452490e0e47ed" /><Relationship Type="http://schemas.openxmlformats.org/officeDocument/2006/relationships/slide" Target="/ppt/slides/slide6.xml" Id="R01e0bc71b0f14244" /><Relationship Type="http://schemas.openxmlformats.org/officeDocument/2006/relationships/slide" Target="/ppt/slides/slide7.xml" Id="R3e1c569bbef24791" /><Relationship Type="http://schemas.openxmlformats.org/officeDocument/2006/relationships/slide" Target="/ppt/slides/slide8.xml" Id="R010a7a8a41744a84" /><Relationship Type="http://schemas.openxmlformats.org/officeDocument/2006/relationships/slide" Target="/ppt/slides/slide9.xml" Id="R4009891bffa94e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cd3f897107a4ed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f69260b877c4652" /><Relationship Type="http://schemas.openxmlformats.org/officeDocument/2006/relationships/slide" Target="/ppt/slides/slide1.xml" Id="R3a90d060697f4e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796178dfb744d0d" /><Relationship Type="http://schemas.openxmlformats.org/officeDocument/2006/relationships/slide" Target="/ppt/slides/slide2.xml" Id="R0670ac09dfb346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9d25bb4989f4a32" /><Relationship Type="http://schemas.openxmlformats.org/officeDocument/2006/relationships/slide" Target="/ppt/slides/slide3.xml" Id="R7e28adf2252449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a4794eb820749dd" /><Relationship Type="http://schemas.openxmlformats.org/officeDocument/2006/relationships/slide" Target="/ppt/slides/slide4.xml" Id="Rc9f5bd6c6e9b43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fcc16ca8a75468e" /><Relationship Type="http://schemas.openxmlformats.org/officeDocument/2006/relationships/slide" Target="/ppt/slides/slide5.xml" Id="R1df8eaa8c8d044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0a373033e8048fd" /><Relationship Type="http://schemas.openxmlformats.org/officeDocument/2006/relationships/slide" Target="/ppt/slides/slide6.xml" Id="R4d4ee5d4f7f940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5d19c623fcd4e19" /><Relationship Type="http://schemas.openxmlformats.org/officeDocument/2006/relationships/slide" Target="/ppt/slides/slide7.xml" Id="R73d1e4b9c0cd4f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5ec30cdb59f427f" /><Relationship Type="http://schemas.openxmlformats.org/officeDocument/2006/relationships/slide" Target="/ppt/slides/slide8.xml" Id="R0646ff20b75b4e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abe883397714189" /><Relationship Type="http://schemas.openxmlformats.org/officeDocument/2006/relationships/slide" Target="/ppt/slides/slide9.xml" Id="R914fc6c2e8cb44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GridGuard AI is a full-stack transmission grid intelligence operating system built for IBM Bob Hackathon 2025. Live at gridguard-app.vercel.app.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core pain: grid operators lack a unified system that fuses SCADA telemetry, live weather, and crew availability into a single decision-support platform. T-104 in Ahmedabad West is a real example seeded in our demo — 91°C winding temp, 4.8 mm/s vibration, Poor oil quality.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Two more capabilities: (5) RBAC with Admin and Employee roles. The Employee terminal shows live work orders, dispatch chimes, and restricted read-only access to SCADA data. The Admin has full simulation, dispatch, and broadcast authority.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model is deterministic and explainable — every risk score produces a plain-English reasons[] array. Asset T-104 scores 87%: 91°C winding temp (18% above nominal), 4.8 mm/s vibration, Poor oil quality, severe storm front, and BHEL 2011-class historical failures.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IBM Bob was not just a code assistant — it was the architect, security auditor, and QA engineer. Every major subsystem was designed, implemented, and tested collaboratively through Bob task sessions.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full demo is guided by a 21-step DemoTourBar component at the top of the page. Judges can click through each step or follow the live demo at gridguard-app.vercel.app.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Single-page React SPA. No backend database — state is seeded in TypeScript data files for the demo, with live Open-Meteo and FCM calls to real external services. The FCM endpoint is a Node.js serverless function on Vercel.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Gujarat alone has ~6,000 MW of industrial load and multiple 400kV inter-state lines. Each SLDC faces the same problem: fragmented SCADA consoles, no weather-risk correlation, and manual crew dispatch. GridGuard AI's architecture is stateless and schema-driven — swapping out the 12-asset data file for a 500-asset file requires zero code changes.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 The demo is fully live at the URL. Admin credentials are intentionally visible here for judges. The 21-step tour covers every judging criterion in sequence.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ba0d738334a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277018b274c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cc3efef444d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59d2e93d443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bcad05398489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766675954d94a2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7ea73ce8344c5" /><Relationship Type="http://schemas.openxmlformats.org/officeDocument/2006/relationships/notesSlide" Target="/ppt/notesSlides/notesSlide1.xml" Id="R9a369f6b038f42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1320a49b74329" /><Relationship Type="http://schemas.openxmlformats.org/officeDocument/2006/relationships/notesSlide" Target="/ppt/notesSlides/notesSlide2.xml" Id="R82f0c6c9ee4943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bead9b84941e1" /><Relationship Type="http://schemas.openxmlformats.org/officeDocument/2006/relationships/notesSlide" Target="/ppt/notesSlides/notesSlide3.xml" Id="R3f139c81efba4d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6c808b5904c23" /><Relationship Type="http://schemas.openxmlformats.org/officeDocument/2006/relationships/notesSlide" Target="/ppt/notesSlides/notesSlide4.xml" Id="R84a3bebf5a6648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5a1e9aa3347ab" /><Relationship Type="http://schemas.openxmlformats.org/officeDocument/2006/relationships/notesSlide" Target="/ppt/notesSlides/notesSlide5.xml" Id="Rcef86f5540c94a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59c8b554542ea" /><Relationship Type="http://schemas.openxmlformats.org/officeDocument/2006/relationships/notesSlide" Target="/ppt/notesSlides/notesSlide6.xml" Id="R47c5fa93ebe342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3640d4e6b47b3" /><Relationship Type="http://schemas.openxmlformats.org/officeDocument/2006/relationships/notesSlide" Target="/ppt/notesSlides/notesSlide7.xml" Id="R13ada44f45d046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94cb2b97f4da4" /><Relationship Type="http://schemas.openxmlformats.org/officeDocument/2006/relationships/notesSlide" Target="/ppt/notesSlides/notesSlide8.xml" Id="Red220c903d2745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568f75bd44c02" /><Relationship Type="http://schemas.openxmlformats.org/officeDocument/2006/relationships/notesSlide" Target="/ppt/notesSlides/notesSlide9.xml" Id="R1d8e2044048546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01" name="Tag"/>
          <p:cNvSpPr txBox="1"/>
          <p:nvPr/>
        </p:nvSpPr>
        <p:spPr>
          <a:xfrm xmlns:a="http://schemas.openxmlformats.org/drawingml/2006/main">
            <a:off x="540000" y="216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BA7D8"/>
                </a:solidFill>
              </a:rPr>
              <a:t>IBM Bob Hackathon 2025  •  Track: AI  •  Team: 4 bytes</a:t>
            </a: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540000" y="720000"/>
            <a:ext cx="10800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FFFF"/>
                </a:solidFill>
                <a:latin typeface="Calibri"/>
                <a:ea typeface="Calibri"/>
              </a:rPr>
              <a:t>GridGuard AI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540000" y="1944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0">
                <a:solidFill>
                  <a:srgbClr val="7BA7D8"/>
                </a:solidFill>
                <a:latin typeface="Calibri"/>
                <a:ea typeface="Calibri"/>
              </a:rPr>
              <a:t>Power Grid Intelligence &amp; Maintenance Command Center</a:t>
            </a:r>
          </a:p>
        </p:txBody>
      </p:sp>
      <p:sp>
        <p:nvSpPr>
          <p:cNvPr id="100004" name="Desc"/>
          <p:cNvSpPr txBox="1"/>
          <p:nvPr/>
        </p:nvSpPr>
        <p:spPr>
          <a:xfrm xmlns:a="http://schemas.openxmlformats.org/drawingml/2006/main">
            <a:off x="540000" y="2592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AACCE8"/>
                </a:solidFill>
                <a:latin typeface="Calibri"/>
                <a:ea typeface="Calibri"/>
              </a:rPr>
              <a:t>Predicting transformer failures 3–7 days in advance with multi-sensor SCADA telemetry, real-time meteorological modeling, and algorithmic crew dispatch — for Gujarat's SLDC transmission grid.</a:t>
            </a:r>
          </a:p>
        </p:txBody>
      </p:sp>
      <p:sp>
        <p:nvSpPr>
          <p:cNvPr id="100005" name="URL"/>
          <p:cNvSpPr txBox="1"/>
          <p:nvPr/>
        </p:nvSpPr>
        <p:spPr>
          <a:xfrm xmlns:a="http://schemas.openxmlformats.org/drawingml/2006/main">
            <a:off x="540000" y="3816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90FF"/>
                </a:solidFill>
              </a:rPr>
              <a:t>🌐  gridguard-app.vercel.app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07" name="SlideNum"/>
          <p:cNvSpPr txBox="1"/>
          <p:nvPr/>
        </p:nvSpPr>
        <p:spPr>
          <a:xfrm xmlns:a="http://schemas.openxmlformats.org/drawingml/2006/main">
            <a:off x="540000" y="252000"/>
            <a:ext cx="36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E90FF"/>
                </a:solidFill>
              </a:rPr>
              <a:t>01  THE PROBLEM</a:t>
            </a:r>
          </a:p>
        </p:txBody>
      </p:sp>
      <p:sp>
        <p:nvSpPr>
          <p:cNvPr id="100008" name="Title"/>
          <p:cNvSpPr txBox="1"/>
          <p:nvPr/>
        </p:nvSpPr>
        <p:spPr>
          <a:xfrm xmlns:a="http://schemas.openxmlformats.org/drawingml/2006/main">
            <a:off x="540000" y="54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1628"/>
                </a:solidFill>
              </a:rPr>
              <a:t>Grid Operators Are Flying Blind</a:t>
            </a:r>
          </a:p>
        </p:txBody>
      </p:sp>
      <p:sp>
        <p:nvSpPr>
          <p:cNvPr id="100009" name="P1"/>
          <p:cNvSpPr txBox="1"/>
          <p:nvPr/>
        </p:nvSpPr>
        <p:spPr>
          <a:xfrm xmlns:a="http://schemas.openxmlformats.org/drawingml/2006/main">
            <a:off x="540000" y="1368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E2D4A"/>
                </a:solidFill>
              </a:rPr>
              <a:t>⚡  Unplanned transformer failures cost $2M–$5M per incident in equipment, lost revenue, and regulatory fines — yet 73% of failures are detectable 3–7 days in advance with proper telemetry analysis.</a:t>
            </a:r>
          </a:p>
        </p:txBody>
      </p:sp>
      <p:sp>
        <p:nvSpPr>
          <p:cNvPr id="100010" name="P2"/>
          <p:cNvSpPr txBox="1"/>
          <p:nvPr/>
        </p:nvSpPr>
        <p:spPr>
          <a:xfrm xmlns:a="http://schemas.openxmlformats.org/drawingml/2006/main">
            <a:off x="540000" y="2232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E2D4A"/>
                </a:solidFill>
              </a:rPr>
              <a:t>🌩️  Regional SLDC dispatchers in Gujarat manage 400kV–66kV corridors spanning Ahmedabad, Gandhinagar, Vadodara and Sanand — with no unified spatial telemetry, weather correlation, or automated crew routing.</a:t>
            </a:r>
          </a:p>
        </p:txBody>
      </p:sp>
      <p:sp>
        <p:nvSpPr>
          <p:cNvPr id="100011" name="P3"/>
          <p:cNvSpPr txBox="1"/>
          <p:nvPr/>
        </p:nvSpPr>
        <p:spPr>
          <a:xfrm xmlns:a="http://schemas.openxmlformats.org/drawingml/2006/main">
            <a:off x="540000" y="3096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E2D4A"/>
                </a:solidFill>
              </a:rPr>
              <a:t>👷  Field maintenance crews are dispatched via radio calls and spreadsheets. Critical assets like Transformer T-104 (serving 18,400 customers) can sit at 87% failure risk for hours before action is taken.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2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13" name="SlideNum"/>
          <p:cNvSpPr txBox="1"/>
          <p:nvPr/>
        </p:nvSpPr>
        <p:spPr>
          <a:xfrm xmlns:a="http://schemas.openxmlformats.org/drawingml/2006/main">
            <a:off x="540000" y="252000"/>
            <a:ext cx="36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E90FF"/>
                </a:solidFill>
              </a:rPr>
              <a:t>02  THE SOLUTION</a:t>
            </a:r>
          </a:p>
        </p:txBody>
      </p:sp>
      <p:sp>
        <p:nvSpPr>
          <p:cNvPr id="100014" name="Title"/>
          <p:cNvSpPr txBox="1"/>
          <p:nvPr/>
        </p:nvSpPr>
        <p:spPr>
          <a:xfrm xmlns:a="http://schemas.openxmlformats.org/drawingml/2006/main">
            <a:off x="540000" y="540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1628"/>
                </a:solidFill>
              </a:rPr>
              <a:t>GridGuard AI — Five Core Capabilities</a:t>
            </a:r>
          </a:p>
        </p:txBody>
      </p:sp>
      <p:sp>
        <p:nvSpPr>
          <p:cNvPr id="100015" name="C1"/>
          <p:cNvSpPr txBox="1"/>
          <p:nvPr/>
        </p:nvSpPr>
        <p:spPr>
          <a:xfrm xmlns:a="http://schemas.openxmlformats.org/drawingml/2006/main">
            <a:off x="540000" y="1260000"/>
            <a:ext cx="5040000" cy="13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🔬  1. Multi-Sensor Failure Prediction Engine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Fuses winding temperature, vibration, DGA oil quality, partial discharge, and load % into a weighted risk score. Assets at &gt;80% risk are escalated to P1-Critical with a 3–7 day failure window prediction and plain-English explanation.</a:t>
            </a:r>
          </a:p>
        </p:txBody>
      </p:sp>
      <p:sp>
        <p:nvSpPr>
          <p:cNvPr id="100016" name="C2"/>
          <p:cNvSpPr txBox="1"/>
          <p:nvPr/>
        </p:nvSpPr>
        <p:spPr>
          <a:xfrm xmlns:a="http://schemas.openxmlformats.org/drawingml/2006/main">
            <a:off x="6300000" y="1260000"/>
            <a:ext cx="5040000" cy="13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🌩️  2. Live Meteorological Hazard Portal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Open-Meteo API feeds 4 Gujarat weather anchor regions. Interactive storm scenario presets (Extreme Heatwave, Monsoon Downpour, Severe Squall) ripple through all 12 grid assets in real time, adjusting failure risks instantly.</a:t>
            </a:r>
          </a:p>
        </p:txBody>
      </p:sp>
      <p:sp>
        <p:nvSpPr>
          <p:cNvPr id="100017" name="C3"/>
          <p:cNvSpPr txBox="1"/>
          <p:nvPr/>
        </p:nvSpPr>
        <p:spPr>
          <a:xfrm xmlns:a="http://schemas.openxmlformats.org/drawingml/2006/main">
            <a:off x="540000" y="2736000"/>
            <a:ext cx="50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🚐  3. Algorithmic Crew Dispatch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Haversine proximity routing across 21 field units with strict availability guards. Nearest Available crew is computed on-demand and dispatched with ETA. Cross-tab BroadcastChannel sync delivers the dispatch order to the Employee terminal instantly.</a:t>
            </a:r>
          </a:p>
        </p:txBody>
      </p:sp>
      <p:sp>
        <p:nvSpPr>
          <p:cNvPr id="100018" name="C4"/>
          <p:cNvSpPr txBox="1"/>
          <p:nvPr/>
        </p:nvSpPr>
        <p:spPr>
          <a:xfrm xmlns:a="http://schemas.openxmlformats.org/drawingml/2006/main">
            <a:off x="6300000" y="2736000"/>
            <a:ext cx="50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📡  4. Multi-Channel Emergency Broadcasting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Firebase Cloud Messaging (FCM topic: gridguard-outages), Web Push API, and WhatsApp/SMS deep links send outage alerts to registered critical contacts — hospitals, industrial feeders, residential districts — with a single click.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9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20" name="SlideNum"/>
          <p:cNvSpPr txBox="1"/>
          <p:nvPr/>
        </p:nvSpPr>
        <p:spPr>
          <a:xfrm xmlns:a="http://schemas.openxmlformats.org/drawingml/2006/main">
            <a:off x="540000" y="252000"/>
            <a:ext cx="36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E90FF"/>
                </a:solidFill>
              </a:rPr>
              <a:t>03  RISK ENGINE</a:t>
            </a:r>
          </a:p>
        </p:txBody>
      </p:sp>
      <p:sp>
        <p:nvSpPr>
          <p:cNvPr id="100021" name="Title"/>
          <p:cNvSpPr txBox="1"/>
          <p:nvPr/>
        </p:nvSpPr>
        <p:spPr>
          <a:xfrm xmlns:a="http://schemas.openxmlformats.org/drawingml/2006/main">
            <a:off x="540000" y="540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1628"/>
                </a:solidFill>
              </a:rPr>
              <a:t>Multi-Sensor Risk Physics — How the AI Works</a:t>
            </a:r>
          </a:p>
        </p:txBody>
      </p:sp>
      <p:sp>
        <p:nvSpPr>
          <p:cNvPr id="100022" name="Formula"/>
          <p:cNvSpPr txBox="1"/>
          <p:nvPr/>
        </p:nvSpPr>
        <p:spPr>
          <a:xfrm xmlns:a="http://schemas.openxmlformats.org/drawingml/2006/main">
            <a:off x="540000" y="1260000"/>
            <a:ext cx="10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90FF"/>
                </a:solidFill>
              </a:rPr>
              <a:t>Combined Risk  =  0.40 × Sensor  +  0.25 × Weather  +  0.20 × History  +  0.15 × Criticality</a:t>
            </a:r>
          </a:p>
        </p:txBody>
      </p:sp>
      <p:sp>
        <p:nvSpPr>
          <p:cNvPr id="100023" name="S1"/>
          <p:cNvSpPr txBox="1"/>
          <p:nvPr/>
        </p:nvSpPr>
        <p:spPr>
          <a:xfrm xmlns:a="http://schemas.openxmlformats.org/drawingml/2006/main">
            <a:off x="540000" y="1872000"/>
            <a:ext cx="504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SENSOR (40%)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Winding Temp °C → linear from 60–110°C (35%)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Vibration mm/s → linear 1–8 mm/s (30%)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DGA Oil Quality → 4-level ordinal (25%)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Load % → step-change at 90% overload (10%)</a:t>
            </a:r>
          </a:p>
        </p:txBody>
      </p:sp>
      <p:sp>
        <p:nvSpPr>
          <p:cNvPr id="100024" name="S2"/>
          <p:cNvSpPr txBox="1"/>
          <p:nvPr/>
        </p:nvSpPr>
        <p:spPr>
          <a:xfrm xmlns:a="http://schemas.openxmlformats.org/drawingml/2006/main">
            <a:off x="6300000" y="1872000"/>
            <a:ext cx="504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WEATHER (25%)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Wind Speed km/h → linear 0–100 (35%)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Rain Probability % → direct passthrough (35%)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Lightning Risk → 4-level ordinal (30%)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HISTORY (20%)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Pre-seeded per-asset fleet reliability baseline</a:t>
            </a:r>
          </a:p>
        </p:txBody>
      </p:sp>
      <p:sp>
        <p:nvSpPr>
          <p:cNvPr id="100025" name="Thresholds"/>
          <p:cNvSpPr txBox="1"/>
          <p:nvPr/>
        </p:nvSpPr>
        <p:spPr>
          <a:xfrm xmlns:a="http://schemas.openxmlformats.org/drawingml/2006/main">
            <a:off x="540000" y="3600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P1 Critical ≥ 80%   →  Emergency inspection within 12h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P2 High  ≥ 60%   →  Maintenance within 48h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P3 Moderate  ≥ 40%   →  Increase polling; re-test DGA oil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P4 Routine  &lt; 40%   →  Standard weekly cycle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6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27" name="SlideNum"/>
          <p:cNvSpPr txBox="1"/>
          <p:nvPr/>
        </p:nvSpPr>
        <p:spPr>
          <a:xfrm xmlns:a="http://schemas.openxmlformats.org/drawingml/2006/main">
            <a:off x="540000" y="252000"/>
            <a:ext cx="36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E90FF"/>
                </a:solidFill>
              </a:rPr>
              <a:t>04  IBM BOB INTEGRATION</a:t>
            </a:r>
          </a:p>
        </p:txBody>
      </p:sp>
      <p:sp>
        <p:nvSpPr>
          <p:cNvPr id="100028" name="Title"/>
          <p:cNvSpPr txBox="1"/>
          <p:nvPr/>
        </p:nvSpPr>
        <p:spPr>
          <a:xfrm xmlns:a="http://schemas.openxmlformats.org/drawingml/2006/main">
            <a:off x="540000" y="540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1628"/>
                </a:solidFill>
              </a:rPr>
              <a:t>IBM Bob Was Load-Bearing — Not Optional</a:t>
            </a:r>
          </a:p>
        </p:txBody>
      </p:sp>
      <p:sp>
        <p:nvSpPr>
          <p:cNvPr id="100029" name="B1"/>
          <p:cNvSpPr txBox="1"/>
          <p:nvPr/>
        </p:nvSpPr>
        <p:spPr>
          <a:xfrm xmlns:a="http://schemas.openxmlformats.org/drawingml/2006/main">
            <a:off x="540000" y="1260000"/>
            <a:ext cx="50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🏗️  Full-Stack Architecture Scaffolding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Bob designed the unified React 19 + TypeScript + Vite SPA architecture — GridContext state bus, AuthContext RBAC engine, WeatherService async integration, and FCM serverless function — across multiple iterative task sessions.</a:t>
            </a:r>
          </a:p>
        </p:txBody>
      </p:sp>
      <p:sp>
        <p:nvSpPr>
          <p:cNvPr id="100030" name="B2"/>
          <p:cNvSpPr txBox="1"/>
          <p:nvPr/>
        </p:nvSpPr>
        <p:spPr>
          <a:xfrm xmlns:a="http://schemas.openxmlformats.org/drawingml/2006/main">
            <a:off x="6300000" y="1260000"/>
            <a:ext cx="50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🔐  Security Hardening (8 Critical Fixes)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Bob identified and fixed RSA key exposure, plaintext password storage, BroadcastChannel injection vulnerabilities, CORS wildcard, and user enumeration. Implemented PBKDF2-SHA-256 (210k iterations) with timing-safe comparison and session TTL.</a:t>
            </a:r>
          </a:p>
        </p:txBody>
      </p:sp>
      <p:sp>
        <p:nvSpPr>
          <p:cNvPr id="100031" name="B3"/>
          <p:cNvSpPr txBox="1"/>
          <p:nvPr/>
        </p:nvSpPr>
        <p:spPr>
          <a:xfrm xmlns:a="http://schemas.openxmlformats.org/drawingml/2006/main">
            <a:off x="540000" y="2628000"/>
            <a:ext cx="5040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🧪  105 Automated Tests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Bob authored 71 pure unit tests for the risk engine (all formula edge cases) and 34 React Testing Library integration tests for GridContext — mocked weather service, stubbed BroadcastChannel, tested lockout state machines.</a:t>
            </a:r>
          </a:p>
        </p:txBody>
      </p:sp>
      <p:sp>
        <p:nvSpPr>
          <p:cNvPr id="100032" name="B4"/>
          <p:cNvSpPr txBox="1"/>
          <p:nvPr/>
        </p:nvSpPr>
        <p:spPr>
          <a:xfrm xmlns:a="http://schemas.openxmlformats.org/drawingml/2006/main">
            <a:off x="6300000" y="2628000"/>
            <a:ext cx="5040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🗺️  Zero-Debt Iterative Refactoring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Bob maintained zero TypeScript compiler errors (tsc --noEmit) across every iteration. Geospatial Leaflet integration, SVG SCADA charts, real-time sensor telemetry timelines, and the 21-step demo tour were all built with Bob.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3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34" name="SlideNum"/>
          <p:cNvSpPr txBox="1"/>
          <p:nvPr/>
        </p:nvSpPr>
        <p:spPr>
          <a:xfrm xmlns:a="http://schemas.openxmlformats.org/drawingml/2006/main">
            <a:off x="540000" y="252000"/>
            <a:ext cx="36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E90FF"/>
                </a:solidFill>
              </a:rPr>
              <a:t>05  DEMO WALKTHROUGH</a:t>
            </a:r>
          </a:p>
        </p:txBody>
      </p:sp>
      <p:sp>
        <p:nvSpPr>
          <p:cNvPr id="100035" name="Title"/>
          <p:cNvSpPr txBox="1"/>
          <p:nvPr/>
        </p:nvSpPr>
        <p:spPr>
          <a:xfrm xmlns:a="http://schemas.openxmlformats.org/drawingml/2006/main">
            <a:off x="540000" y="540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1628"/>
                </a:solidFill>
              </a:rPr>
              <a:t>21-Step Live Demo Tour</a:t>
            </a:r>
          </a:p>
        </p:txBody>
      </p:sp>
      <p:sp>
        <p:nvSpPr>
          <p:cNvPr id="100036" name="Step1"/>
          <p:cNvSpPr txBox="1"/>
          <p:nvPr/>
        </p:nvSpPr>
        <p:spPr>
          <a:xfrm xmlns:a="http://schemas.openxmlformats.org/drawingml/2006/main">
            <a:off x="540000" y="1260000"/>
            <a:ext cx="504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Step 1 — Dashboard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Land on the live map. T-104 pulsing red at 87% risk, Crew 08 staged at S-17. Summary KPIs: 2 Critical assets, 15 Available crews, Grid Health 71%.</a:t>
            </a:r>
          </a:p>
        </p:txBody>
      </p:sp>
      <p:sp>
        <p:nvSpPr>
          <p:cNvPr id="100037" name="Step2"/>
          <p:cNvSpPr txBox="1"/>
          <p:nvPr/>
        </p:nvSpPr>
        <p:spPr>
          <a:xfrm xmlns:a="http://schemas.openxmlformats.org/drawingml/2006/main">
            <a:off x="6300000" y="1260000"/>
            <a:ext cx="504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Step 2 — AI Prediction Engine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Select T-104. Observe the 4-factor breakdown. Drag Temperature slider to 98°C — risk jumps from 87% to 95%. The reasons[] explainability text updates instantly.</a:t>
            </a:r>
          </a:p>
        </p:txBody>
      </p:sp>
      <p:sp>
        <p:nvSpPr>
          <p:cNvPr id="100038" name="Step3"/>
          <p:cNvSpPr txBox="1"/>
          <p:nvPr/>
        </p:nvSpPr>
        <p:spPr>
          <a:xfrm xmlns:a="http://schemas.openxmlformats.org/drawingml/2006/main">
            <a:off x="540000" y="2376000"/>
            <a:ext cx="504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Step 3 — Weather Simulation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Trigger 'Extreme Heatwave' preset. All 12 assets recalculate. TL-400A jumps to Critical. Asset risk map updates in real time via recalculateAssetWithWeather().</a:t>
            </a:r>
          </a:p>
        </p:txBody>
      </p:sp>
      <p:sp>
        <p:nvSpPr>
          <p:cNvPr id="100039" name="Step4"/>
          <p:cNvSpPr txBox="1"/>
          <p:nvPr/>
        </p:nvSpPr>
        <p:spPr>
          <a:xfrm xmlns:a="http://schemas.openxmlformats.org/drawingml/2006/main">
            <a:off x="6300000" y="2376000"/>
            <a:ext cx="504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Step 4 — Crew Dispatch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Assign Crew 04 to T-104. BroadcastChannel fires. Switch to Employee tab — 440Hz chime plays, work order banner appears instantly. Open side-by-side to show real-time sync.</a:t>
            </a:r>
          </a:p>
        </p:txBody>
      </p:sp>
      <p:sp>
        <p:nvSpPr>
          <p:cNvPr id="100040" name="Step5"/>
          <p:cNvSpPr txBox="1"/>
          <p:nvPr/>
        </p:nvSpPr>
        <p:spPr>
          <a:xfrm xmlns:a="http://schemas.openxmlformats.org/drawingml/2006/main">
            <a:off x="3240000" y="3492000"/>
            <a:ext cx="50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Step 5 — Outage Broadcast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Fire FCM notification to gridguard-outages topic. Show FCM routing transparency panel. Demonstrate Employee login (EMP-04 / EMP-04_Sharma) read-only restriction.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1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42" name="SlideNum"/>
          <p:cNvSpPr txBox="1"/>
          <p:nvPr/>
        </p:nvSpPr>
        <p:spPr>
          <a:xfrm xmlns:a="http://schemas.openxmlformats.org/drawingml/2006/main">
            <a:off x="540000" y="252000"/>
            <a:ext cx="36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E90FF"/>
                </a:solidFill>
              </a:rPr>
              <a:t>06  ARCHITECTURE</a:t>
            </a:r>
          </a:p>
        </p:txBody>
      </p:sp>
      <p:sp>
        <p:nvSpPr>
          <p:cNvPr id="100043" name="Title"/>
          <p:cNvSpPr txBox="1"/>
          <p:nvPr/>
        </p:nvSpPr>
        <p:spPr>
          <a:xfrm xmlns:a="http://schemas.openxmlformats.org/drawingml/2006/main">
            <a:off x="540000" y="540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1628"/>
                </a:solidFill>
              </a:rPr>
              <a:t>Technical Architecture</a:t>
            </a:r>
          </a:p>
        </p:txBody>
      </p:sp>
      <p:sp>
        <p:nvSpPr>
          <p:cNvPr id="100044" name="FE"/>
          <p:cNvSpPr txBox="1"/>
          <p:nvPr/>
        </p:nvSpPr>
        <p:spPr>
          <a:xfrm xmlns:a="http://schemas.openxmlformats.org/drawingml/2006/main">
            <a:off x="540000" y="1260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FRONTEND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React 19 + TypeScript + Vite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Leaflet / MapTiler Geospatial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Vanilla CSS Design Tokens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Lucide React Icons</a:t>
            </a:r>
          </a:p>
        </p:txBody>
      </p:sp>
      <p:sp>
        <p:nvSpPr>
          <p:cNvPr id="100045" name="State"/>
          <p:cNvSpPr txBox="1"/>
          <p:nvPr/>
        </p:nvSpPr>
        <p:spPr>
          <a:xfrm xmlns:a="http://schemas.openxmlformats.org/drawingml/2006/main">
            <a:off x="4320000" y="1260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STATE BUS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GridContext (assets, crews,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weather, sim, copilot)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AuthContext (RBAC, PBKDF2,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lockout, TTL)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BroadcastChannel sync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localStorage event bus</a:t>
            </a:r>
          </a:p>
        </p:txBody>
      </p:sp>
      <p:sp>
        <p:nvSpPr>
          <p:cNvPr id="100046" name="Ext"/>
          <p:cNvSpPr txBox="1"/>
          <p:nvPr/>
        </p:nvSpPr>
        <p:spPr>
          <a:xfrm xmlns:a="http://schemas.openxmlformats.org/drawingml/2006/main">
            <a:off x="8100000" y="1260000"/>
            <a:ext cx="32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9C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EXTERNAL SERVICES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Open-Meteo REST API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MapTiler Cloud Tiles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Firebase Cloud Messaging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Web Push / Service Worker</a:t>
            </a:r>
          </a:p>
          <a:p xmlns:a="http://schemas.openxmlformats.org/drawingml/2006/main">
            <a:r>
              <a:rPr lang="en-US" sz="1300">
                <a:solidFill>
                  <a:srgbClr val="1E2D4A"/>
                </a:solidFill>
              </a:rPr>
              <a:t>WhatsApp/SMS Deep Links</a:t>
            </a:r>
          </a:p>
        </p:txBody>
      </p:sp>
      <p:sp>
        <p:nvSpPr>
          <p:cNvPr id="100047" name="Sec"/>
          <p:cNvSpPr txBox="1"/>
          <p:nvPr/>
        </p:nvSpPr>
        <p:spPr>
          <a:xfrm xmlns:a="http://schemas.openxmlformats.org/drawingml/2006/main">
            <a:off x="540000" y="2880000"/>
            <a:ext cx="108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SECURITY STACK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• PBKDF2-SHA-256 (210k iter) — Web Crypto API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• 5-attempt / 30s lockout  •  8-hour session TTL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• BroadcastChannel schema validation + regex guards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• FCM CORS origin allowlist  •  Env-var-only credentials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• 105 automated tests  •  0 TS compiler errors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8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49" name="SlideNum"/>
          <p:cNvSpPr txBox="1"/>
          <p:nvPr/>
        </p:nvSpPr>
        <p:spPr>
          <a:xfrm xmlns:a="http://schemas.openxmlformats.org/drawingml/2006/main">
            <a:off x="540000" y="252000"/>
            <a:ext cx="3600000" cy="2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1E90FF"/>
                </a:solidFill>
              </a:rPr>
              <a:t>07  IMPACT &amp; SCALE</a:t>
            </a:r>
          </a:p>
        </p:txBody>
      </p:sp>
      <p:sp>
        <p:nvSpPr>
          <p:cNvPr id="100050" name="Title"/>
          <p:cNvSpPr txBox="1"/>
          <p:nvPr/>
        </p:nvSpPr>
        <p:spPr>
          <a:xfrm xmlns:a="http://schemas.openxmlformats.org/drawingml/2006/main">
            <a:off x="540000" y="540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1628"/>
                </a:solidFill>
              </a:rPr>
              <a:t>Business Impact &amp; Scaling Path</a:t>
            </a:r>
          </a:p>
        </p:txBody>
      </p:sp>
      <p:sp>
        <p:nvSpPr>
          <p:cNvPr id="100051" name="I1"/>
          <p:cNvSpPr txBox="1"/>
          <p:nvPr/>
        </p:nvSpPr>
        <p:spPr>
          <a:xfrm xmlns:a="http://schemas.openxmlformats.org/drawingml/2006/main">
            <a:off x="540000" y="1368000"/>
            <a:ext cx="30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D4A"/>
                </a:solidFill>
              </a:rPr>
              <a:t>$2M–$5M</a:t>
            </a:r>
          </a:p>
          <a:p xmlns:a="http://schemas.openxmlformats.org/drawingml/2006/main">
            <a:r>
              <a:rPr lang="en-US" sz="1400" b="0">
                <a:solidFill>
                  <a:srgbClr val="1E2D4A"/>
                </a:solidFill>
              </a:rPr>
              <a:t>Avoided per catastrophic</a:t>
            </a:r>
          </a:p>
          <a:p xmlns:a="http://schemas.openxmlformats.org/drawingml/2006/main">
            <a:r>
              <a:rPr lang="en-US" sz="1400" b="0">
                <a:solidFill>
                  <a:srgbClr val="1E2D4A"/>
                </a:solidFill>
              </a:rPr>
              <a:t>transformer failure event</a:t>
            </a:r>
          </a:p>
          <a:p xmlns:a="http://schemas.openxmlformats.org/drawingml/2006/main">
            <a:r>
              <a:rPr lang="en-US" sz="1400" b="0">
                <a:solidFill>
                  <a:srgbClr val="1E2D4A"/>
                </a:solidFill>
              </a:rPr>
              <a:t>(equipment + outage revenue loss)</a:t>
            </a:r>
          </a:p>
        </p:txBody>
      </p:sp>
      <p:sp>
        <p:nvSpPr>
          <p:cNvPr id="100052" name="I2"/>
          <p:cNvSpPr txBox="1"/>
          <p:nvPr/>
        </p:nvSpPr>
        <p:spPr>
          <a:xfrm xmlns:a="http://schemas.openxmlformats.org/drawingml/2006/main">
            <a:off x="4140000" y="1368000"/>
            <a:ext cx="30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3–7 Days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Advance failure warning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window — enough time to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schedule emergency maintenance</a:t>
            </a:r>
          </a:p>
        </p:txBody>
      </p:sp>
      <p:sp>
        <p:nvSpPr>
          <p:cNvPr id="100053" name="I3"/>
          <p:cNvSpPr txBox="1"/>
          <p:nvPr/>
        </p:nvSpPr>
        <p:spPr>
          <a:xfrm xmlns:a="http://schemas.openxmlformats.org/drawingml/2006/main">
            <a:off x="7740000" y="1368000"/>
            <a:ext cx="34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9C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250,000+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Downstream customers protected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across 12 monitored assets in</a:t>
            </a:r>
          </a:p>
          <a:p xmlns:a="http://schemas.openxmlformats.org/drawingml/2006/main">
            <a:r>
              <a:rPr lang="en-US" sz="1400">
                <a:solidFill>
                  <a:srgbClr val="1E2D4A"/>
                </a:solidFill>
              </a:rPr>
              <a:t>Gujarat's 400kV–66kV corridors</a:t>
            </a:r>
          </a:p>
        </p:txBody>
      </p:sp>
      <p:sp>
        <p:nvSpPr>
          <p:cNvPr id="100054" name="Scale"/>
          <p:cNvSpPr txBox="1"/>
          <p:nvPr/>
        </p:nvSpPr>
        <p:spPr>
          <a:xfrm xmlns:a="http://schemas.openxmlformats.org/drawingml/2006/main">
            <a:off x="540000" y="2808000"/>
            <a:ext cx="10800000" cy="13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Scaling to Every Regional SLDC in India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POSOCO / NLDC integration path via IEC 61850 / SCADA IEC-104 protocol adapters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Configurable asset registry supports any 400kV–11kV fleet with no code changes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Firebase FCM topic partitioning maps to individual state DISCOMs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Multi-language support (Gujarati, Hindi) planned for next iteration</a:t>
            </a:r>
          </a:p>
          <a:p xmlns:a="http://schemas.openxmlformats.org/drawingml/2006/main">
            <a:r>
              <a:rPr lang="en-US" sz="1500">
                <a:solidFill>
                  <a:srgbClr val="1E2D4A"/>
                </a:solidFill>
              </a:rPr>
              <a:t>• Estimated national deployment: 35 SLDCs, 8,000+ monitored assets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55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00056" name="Tag"/>
          <p:cNvSpPr txBox="1"/>
          <p:nvPr/>
        </p:nvSpPr>
        <p:spPr>
          <a:xfrm xmlns:a="http://schemas.openxmlformats.org/drawingml/2006/main">
            <a:off x="540000" y="252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BA7D8"/>
                </a:solidFill>
              </a:rPr>
              <a:t>IBM Bob Hackathon 2025  •  Track: AI  •  Team: 4 bytes  •  Lead: Shaan Dabhi</a:t>
            </a:r>
          </a:p>
        </p:txBody>
      </p:sp>
      <p:sp>
        <p:nvSpPr>
          <p:cNvPr id="100057" name="Title"/>
          <p:cNvSpPr txBox="1"/>
          <p:nvPr/>
        </p:nvSpPr>
        <p:spPr>
          <a:xfrm xmlns:a="http://schemas.openxmlformats.org/drawingml/2006/main">
            <a:off x="540000" y="90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Try It Live — Right Now</a:t>
            </a:r>
          </a:p>
        </p:txBody>
      </p:sp>
      <p:sp>
        <p:nvSpPr>
          <p:cNvPr id="100058" name="URL"/>
          <p:cNvSpPr txBox="1"/>
          <p:nvPr/>
        </p:nvSpPr>
        <p:spPr>
          <a:xfrm xmlns:a="http://schemas.openxmlformats.org/drawingml/2006/main">
            <a:off x="540000" y="172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90FF"/>
                </a:solidFill>
              </a:rPr>
              <a:t>gridguard-app.vercel.app</a:t>
            </a:r>
          </a:p>
        </p:txBody>
      </p:sp>
      <p:sp>
        <p:nvSpPr>
          <p:cNvPr id="100059" name="Creds"/>
          <p:cNvSpPr txBox="1"/>
          <p:nvPr/>
        </p:nvSpPr>
        <p:spPr>
          <a:xfrm xmlns:a="http://schemas.openxmlformats.org/drawingml/2006/main">
            <a:off x="540000" y="2520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AACCE8"/>
                </a:solidFill>
              </a:rPr>
              <a:t>Admin login: admin  /  GridGuard@2024</a:t>
            </a:r>
          </a:p>
          <a:p xmlns:a="http://schemas.openxmlformats.org/drawingml/2006/main">
            <a:r>
              <a:rPr lang="en-US" sz="1800">
                <a:solidFill>
                  <a:srgbClr val="AACCE8"/>
                </a:solidFill>
              </a:rPr>
              <a:t>Employee login: EMP-04  /  EMP-04_Sharma</a:t>
            </a:r>
          </a:p>
          <a:p xmlns:a="http://schemas.openxmlformats.org/drawingml/2006/main">
            <a:r>
              <a:rPr lang="en-US" sz="1800">
                <a:solidFill>
                  <a:srgbClr val="AACCE8"/>
                </a:solidFill>
              </a:rPr>
              <a:t>Click 'Hackathon Demo Flow' button in the header to start the guided 21-step tour</a:t>
            </a:r>
          </a:p>
        </p:txBody>
      </p:sp>
      <p:sp>
        <p:nvSpPr>
          <p:cNvPr id="100060" name="Rubric"/>
          <p:cNvSpPr txBox="1"/>
          <p:nvPr/>
        </p:nvSpPr>
        <p:spPr>
          <a:xfrm xmlns:a="http://schemas.openxmlformats.org/drawingml/2006/main">
            <a:off x="540000" y="352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7BA7D8"/>
                </a:solidFill>
              </a:rPr>
              <a:t>Rubric coverage:  ✓ Technical (25)  ✓ Innovation (25)  ✓ Problem Depth (15)  ✓ Working Demo (15)  ✓ Bob Integration (10)  ✓ Documentation (10)</a:t>
            </a:r>
          </a:p>
        </p:txBody>
      </p:sp>
      <p:sp>
        <p:nvSpPr>
          <p:cNvPr id="100061" name="Thanks"/>
          <p:cNvSpPr txBox="1"/>
          <p:nvPr/>
        </p:nvSpPr>
        <p:spPr>
          <a:xfrm xmlns:a="http://schemas.openxmlformats.org/drawingml/2006/main">
            <a:off x="540000" y="403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4A7FA0"/>
                </a:solidFill>
              </a:rPr>
              <a:t>Built entirely with IBM Bob IDE — from architecture to security audit to 105 automated tests.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2026-09-15T07:41:45Z</dcterms:created>
  <cp:lastModifiedBy>OfficeCLI</cp:lastModifiedBy>
  <dcterms:modified xsi:type="dcterms:W3CDTF">2026-09-15T07:41:45Z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1.0.150</vt:lpwstr>
  </op:property>
  <op:property fmtid="{D5CDD505-2E9C-101B-9397-08002B2CF9AE}" pid="3" name="OfficeCLI.LastModified">
    <vt:lpwstr xmlns:vt="http://schemas.openxmlformats.org/officeDocument/2006/docPropsVTypes">2026-09-15T07:43:41Z</vt:lpwstr>
  </op:property>
</op:Properties>
</file>